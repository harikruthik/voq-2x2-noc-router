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Shape 3"/>
          <p:cNvSpPr/>
          <p:nvPr/>
        </p:nvSpPr>
        <p:spPr>
          <a:xfrm>
            <a:off x="7718859" y="6031906"/>
            <a:ext cx="1996588" cy="731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9747448" y="3122806"/>
            <a:ext cx="1722639" cy="731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5816627" y="4594547"/>
            <a:ext cx="1931825" cy="731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226725" y="3069600"/>
            <a:ext cx="1127480" cy="731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4952654" y="2176559"/>
            <a:ext cx="1789569" cy="731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8923033" y="3322240"/>
            <a:ext cx="1771534" cy="7315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VOQ 2×2 NoC Router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Architecture Visualization &amp; Live Animation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645920" y="3246120"/>
            <a:ext cx="886968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Arbitration  ·  Aging Anti-Starvation  ·  VOQ Pipeline  ·  CRC Validation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4206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 w="25400">
            <a:solidFill>
              <a:srgbClr val="00FF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477 LUTs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4206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0.191 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25.3°C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4206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Kintex-7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VIT–SanDisk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PACKET FORMAT — 32-BIT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2A001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PRIORITY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[31:30]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00=LOW  11=CRIT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20240" y="731520"/>
            <a:ext cx="822960" cy="1005840"/>
          </a:xfrm>
          <a:prstGeom prst="roundRect">
            <a:avLst>
              <a:gd name="adj" fmla="val 8889"/>
            </a:avLst>
          </a:prstGeom>
          <a:solidFill>
            <a:srgbClr val="2A001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76809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0972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[29]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1371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0=Out0  1=Out1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0" y="7315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2A001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76809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PKT_ID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1097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[28:24]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ID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0" y="73152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2A001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76809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PAYLOAD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1097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[23:5]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19-bit 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961120" y="73152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2A001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768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CRC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1097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[4:0]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checksum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19202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EXAMPLE PACKETS BY PRIORITY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233172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2532888"/>
            <a:ext cx="256032" cy="256032"/>
          </a:xfrm>
          <a:prstGeom prst="ellipse">
            <a:avLst/>
          </a:prstGeom>
          <a:solidFill>
            <a:srgbClr val="FF3355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236829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PRIO=11  DEST=0  pkt_id=xxxxx  payload=0x?????  crc=xxxxx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26791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— Network Control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2514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PRIO=11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15468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355848"/>
            <a:ext cx="256032" cy="256032"/>
          </a:xfrm>
          <a:prstGeom prst="ellipse">
            <a:avLst/>
          </a:prstGeom>
          <a:solidFill>
            <a:srgbClr val="FF8800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19125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PRIO=10  DEST=0  pkt_id=xxxxx  payload=0x?????  crc=xxxxx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35021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— Streaming Video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PRIO=10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178808"/>
            <a:ext cx="256032" cy="256032"/>
          </a:xfrm>
          <a:prstGeom prst="ellipse">
            <a:avLst/>
          </a:prstGeom>
          <a:solidFill>
            <a:srgbClr val="00AAFF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" y="401421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PRIO=01  DEST=1  pkt_id=xxxxx  payload=0x?????  crc=xxxxx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43251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— Bulk Transfer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26880" y="4160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PRIO=01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48006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25400">
            <a:solidFill>
              <a:srgbClr val="3A5A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5001768"/>
            <a:ext cx="256032" cy="256032"/>
          </a:xfrm>
          <a:prstGeom prst="ellipse">
            <a:avLst/>
          </a:prstGeom>
          <a:solidFill>
            <a:srgbClr val="3A5A7A"/>
          </a:solidFill>
          <a:ln/>
        </p:spPr>
      </p:sp>
      <p:sp>
        <p:nvSpPr>
          <p:cNvPr id="44" name="Text 42"/>
          <p:cNvSpPr/>
          <p:nvPr/>
        </p:nvSpPr>
        <p:spPr>
          <a:xfrm>
            <a:off x="1005840" y="483717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PRIO=00  DEST=1  pkt_id=xxxxx  payload=0x?????  crc=xxxxx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05840" y="51480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 — Background Sync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26880" y="4983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PRIO=00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2971800"/>
            <a:ext cx="22860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3291840" y="2971800"/>
            <a:ext cx="365760" cy="-118872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291840" y="2971800"/>
            <a:ext cx="365760" cy="109728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029200" y="1783080"/>
            <a:ext cx="457200" cy="118872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029200" y="4069080"/>
            <a:ext cx="457200" cy="-109728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858000" y="2971800"/>
            <a:ext cx="36576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686800" y="2971800"/>
            <a:ext cx="548640" cy="-1170432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8686800" y="2971800"/>
            <a:ext cx="548640" cy="1024128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45720" y="24688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" y="3886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0" cy="13716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20040" y="4023360"/>
            <a:ext cx="0" cy="-82296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2004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1A4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" y="2523744"/>
            <a:ext cx="1444752" cy="896112"/>
          </a:xfrm>
          <a:prstGeom prst="roundRect">
            <a:avLst>
              <a:gd name="adj" fmla="val 10204"/>
            </a:avLst>
          </a:prstGeom>
          <a:ln w="127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42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898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REGISTER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2642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PARSER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2898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+CRC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4538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VOQ FIFO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1709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3657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7398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VOQ FIFO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3995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277063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25603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6426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CROSSBAR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2898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2×2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235440" y="14630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16047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235440" y="3657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0" y="37993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PIPELINE STEP 1 — PACKET ARRIVES AT INPUT REGISTER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85800" y="2788920"/>
            <a:ext cx="365760" cy="365760"/>
          </a:xfrm>
          <a:prstGeom prst="ellipse">
            <a:avLst/>
          </a:prstGeom>
          <a:solidFill>
            <a:srgbClr val="FF33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PKT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502920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packet_in0 registered on rising clock edge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5440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32-bit word: {PRIO=10, DEST=0, pkt_id=3, payload=0xABCDE, crc=10110}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5760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valid0 = 1  →  register captures packet this cycle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INPUT REGISTER acts as pipeline stage — eliminates metastability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2971800"/>
            <a:ext cx="22860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3291840" y="2971800"/>
            <a:ext cx="365760" cy="-118872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291840" y="2971800"/>
            <a:ext cx="365760" cy="109728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029200" y="1783080"/>
            <a:ext cx="457200" cy="118872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029200" y="4069080"/>
            <a:ext cx="457200" cy="-109728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858000" y="2971800"/>
            <a:ext cx="36576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686800" y="2971800"/>
            <a:ext cx="548640" cy="-1170432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8686800" y="2971800"/>
            <a:ext cx="548640" cy="1024128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45720" y="24688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" y="3886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0" cy="13716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20040" y="4023360"/>
            <a:ext cx="0" cy="-82296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2004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1A4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" y="2523744"/>
            <a:ext cx="1444752" cy="896112"/>
          </a:xfrm>
          <a:prstGeom prst="roundRect">
            <a:avLst>
              <a:gd name="adj" fmla="val 10204"/>
            </a:avLst>
          </a:prstGeom>
          <a:ln w="127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642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898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REGISTER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1A40"/>
          </a:solidFill>
          <a:ln w="25400">
            <a:solidFill>
              <a:srgbClr val="00FF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83664" y="2523744"/>
            <a:ext cx="1444752" cy="896112"/>
          </a:xfrm>
          <a:prstGeom prst="roundRect">
            <a:avLst>
              <a:gd name="adj" fmla="val 10204"/>
            </a:avLst>
          </a:prstGeom>
          <a:ln w="12700">
            <a:solidFill>
              <a:srgbClr val="00FF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2642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PARSER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2898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+CRC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14538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VOQ FIFO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1709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0" y="3657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7398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VOQ FIFO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995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77063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23760" y="25603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26426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CROSSBAR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23760" y="2898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2×2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235440" y="14630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35440" y="16047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235440" y="3657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37993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PIPELINE STEP 2 — PARSER EXTRACTS FIELDS + CRC CHECK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423160" y="2788920"/>
            <a:ext cx="365760" cy="365760"/>
          </a:xfrm>
          <a:prstGeom prst="ellipse">
            <a:avLst/>
          </a:prstGeom>
          <a:solidFill>
            <a:srgbClr val="FF33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PKT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4937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0033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377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CRC PASS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5376672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 = 10  →  HIGH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5586984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      = 0   →  Output0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5797296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pkt_id    = 00011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00760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crc_calc  = crc_pkt  ✓ match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0" y="493776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2A001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0" y="49377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✕  CRC FAIL — PACKET DROPPED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5376672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Packet dropped before entering VOQ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5586984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crc_error0 flag raised for 1 cycle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26480" y="5797296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Never reaches switch fabric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26480" y="6007608"/>
            <a:ext cx="53035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drop_cnt incremented in monitor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2971800"/>
            <a:ext cx="22860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3291840" y="2971800"/>
            <a:ext cx="365760" cy="-118872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291840" y="2971800"/>
            <a:ext cx="365760" cy="109728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029200" y="1783080"/>
            <a:ext cx="457200" cy="118872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029200" y="4069080"/>
            <a:ext cx="457200" cy="-109728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858000" y="2971800"/>
            <a:ext cx="36576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686800" y="2971800"/>
            <a:ext cx="548640" cy="-1170432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8686800" y="2971800"/>
            <a:ext cx="548640" cy="1024128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45720" y="24688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" y="3886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0" cy="13716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20040" y="4023360"/>
            <a:ext cx="0" cy="-82296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2004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42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898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REGISTER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2024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264261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PARSER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2898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+CRC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1A4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024" y="1335024"/>
            <a:ext cx="1444752" cy="896112"/>
          </a:xfrm>
          <a:prstGeom prst="roundRect">
            <a:avLst>
              <a:gd name="adj" fmla="val 10204"/>
            </a:avLst>
          </a:prstGeom>
          <a:ln w="12700">
            <a:solidFill>
              <a:srgbClr val="FF8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4538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VOQ FIFO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1709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3657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7398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VOQ FIFO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39959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25603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1A4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9824" y="2523744"/>
            <a:ext cx="1444752" cy="896112"/>
          </a:xfrm>
          <a:prstGeom prst="roundRect">
            <a:avLst>
              <a:gd name="adj" fmla="val 10204"/>
            </a:avLst>
          </a:prstGeom>
          <a:ln w="12700">
            <a:solidFill>
              <a:srgbClr val="FF33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77063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23760" y="25603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01A4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87184" y="2523744"/>
            <a:ext cx="1536192" cy="896112"/>
          </a:xfrm>
          <a:prstGeom prst="roundRect">
            <a:avLst>
              <a:gd name="adj" fmla="val 10204"/>
            </a:avLst>
          </a:prstGeom>
          <a:ln w="12700">
            <a:solidFill>
              <a:srgbClr val="00FF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26426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CROSSBAR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23760" y="2898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2×2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235440" y="14630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01A40"/>
          </a:solidFill>
          <a:ln w="25400">
            <a:solidFill>
              <a:srgbClr val="00FF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98864" y="1426464"/>
            <a:ext cx="1536192" cy="758952"/>
          </a:xfrm>
          <a:prstGeom prst="roundRect">
            <a:avLst>
              <a:gd name="adj" fmla="val 12048"/>
            </a:avLst>
          </a:prstGeom>
          <a:ln w="12700">
            <a:solidFill>
              <a:srgbClr val="00FF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16047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235440" y="3657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37993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PIPELINE STEP 3 — VOQ → ARBITER → CROSSBAR → OUTPUT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160520" y="1600200"/>
            <a:ext cx="365760" cy="365760"/>
          </a:xfrm>
          <a:prstGeom prst="ellipse">
            <a:avLst/>
          </a:prstGeom>
          <a:solidFill>
            <a:srgbClr val="FF33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052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PKT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4937760"/>
            <a:ext cx="11430000" cy="1691640"/>
          </a:xfrm>
          <a:prstGeom prst="roundRect">
            <a:avLst>
              <a:gd name="adj" fmla="val 5405"/>
            </a:avLst>
          </a:prstGeom>
          <a:solidFill>
            <a:srgbClr val="0A1628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983480"/>
            <a:ext cx="10972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 Demux: dest=0 → writes to fifo_0_0 (Input0→Output0)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5303520"/>
            <a:ext cx="10972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  FIFO stores packet + cycle_counter as timestamp (latency tracking)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5623560"/>
            <a:ext cx="10972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  Arbiter: req0=1, req1=0 → no conflict → grant0 fires immediately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943600"/>
            <a:ext cx="10972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  Crossbar: connects fifo_0_0.head to out0 bus — 1 cycle transfer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263640"/>
            <a:ext cx="10972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⑦  Output: out0_valid=1, out0_data=pkt, grant0=1 — packet exits router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ARBITRATION — BOTH INPUTS WANT OUTPUT 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001A4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78240" y="100584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&gt; Aging &gt; RR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83480" y="48920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0033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49194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109728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80960" y="2926080"/>
            <a:ext cx="109728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080760" y="4206240"/>
            <a:ext cx="0" cy="68580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57200" y="160020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00200"/>
            <a:ext cx="853440" cy="201168"/>
          </a:xfrm>
          <a:prstGeom prst="roundRect">
            <a:avLst>
              <a:gd name="adj" fmla="val 18182"/>
            </a:avLst>
          </a:prstGeom>
          <a:solidFill>
            <a:srgbClr val="00AAFF"/>
          </a:solidFill>
          <a:ln w="6350">
            <a:solidFill>
              <a:srgbClr val="00A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19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PRIORITY: 1/3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225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COUNTER: 0/7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06040"/>
            <a:ext cx="365760" cy="201168"/>
          </a:xfrm>
          <a:prstGeom prst="roundRect">
            <a:avLst>
              <a:gd name="adj" fmla="val 18182"/>
            </a:avLst>
          </a:prstGeom>
          <a:solidFill>
            <a:srgbClr val="00FFEE"/>
          </a:solidFill>
          <a:ln w="6350">
            <a:solidFill>
              <a:srgbClr val="00FF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254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PRIORITY: 1/7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eff0 = prio(1) + age(0) =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pkt_id=7  Dest=Out0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560" y="160020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160020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FF8800"/>
          </a:solidFill>
          <a:ln w="6350">
            <a:solidFill>
              <a:srgbClr val="FF8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1819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PRIORITY: 3/3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052560" y="210312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23225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COUNTER: 0/7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052560" y="260604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260604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00FFEE"/>
          </a:solidFill>
          <a:ln w="6350">
            <a:solidFill>
              <a:srgbClr val="00FF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28254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PRIORITY: 3/7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05256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eff1 = prio(3) + age(0) = 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5256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pkt_id=8  Dest=Out0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89120" y="425196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2A001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42702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⚡  CONFLICT!  Both → Output0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eff0=1  vs  eff1=3  →  eff1 &gt; eff0  →  IN1 WINS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ARBITRATION — DECISION: IN1 GRANTED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001A4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78240" y="100584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&gt; Aging &gt; RR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83480" y="48920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0033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49194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109728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80960" y="2926080"/>
            <a:ext cx="109728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080760" y="4206240"/>
            <a:ext cx="0" cy="68580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57200" y="160020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00200"/>
            <a:ext cx="853440" cy="201168"/>
          </a:xfrm>
          <a:prstGeom prst="roundRect">
            <a:avLst>
              <a:gd name="adj" fmla="val 18182"/>
            </a:avLst>
          </a:prstGeom>
          <a:solidFill>
            <a:srgbClr val="00AAFF"/>
          </a:solidFill>
          <a:ln w="6350">
            <a:solidFill>
              <a:srgbClr val="00A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19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PRIORITY: 1/3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225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0/7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06040"/>
            <a:ext cx="365760" cy="201168"/>
          </a:xfrm>
          <a:prstGeom prst="roundRect">
            <a:avLst>
              <a:gd name="adj" fmla="val 18182"/>
            </a:avLst>
          </a:prstGeom>
          <a:solidFill>
            <a:srgbClr val="00FFEE"/>
          </a:solidFill>
          <a:ln w="6350">
            <a:solidFill>
              <a:srgbClr val="00FF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254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= 1: 1/7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20040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2A001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186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IN0 DENIED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wait0++ (1/3)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560" y="160020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160020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FF8800"/>
          </a:solidFill>
          <a:ln w="6350">
            <a:solidFill>
              <a:srgbClr val="FF8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1819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PRIORITY: 3/3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052560" y="210312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23225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0/7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052560" y="260604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2606040"/>
            <a:ext cx="1097280" cy="201168"/>
          </a:xfrm>
          <a:prstGeom prst="roundRect">
            <a:avLst>
              <a:gd name="adj" fmla="val 18182"/>
            </a:avLst>
          </a:prstGeom>
          <a:solidFill>
            <a:srgbClr val="00FFEE"/>
          </a:solidFill>
          <a:ln w="6350">
            <a:solidFill>
              <a:srgbClr val="00FF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28254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= 3: 3/7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778240" y="320040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0033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32186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IN1 GRANTED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pkt_id=8 exits Out0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80960" y="5120640"/>
            <a:ext cx="1097280" cy="0"/>
          </a:xfrm>
          <a:prstGeom prst="line">
            <a:avLst/>
          </a:prstGeom>
          <a:noFill/>
          <a:ln w="38100">
            <a:solidFill>
              <a:srgbClr val="00FF88"/>
            </a:solidFill>
            <a:prstDash val="solid"/>
            <a:tailEnd type="arrow"/>
          </a:ln>
        </p:spPr>
      </p:sp>
      <p:sp>
        <p:nvSpPr>
          <p:cNvPr id="39" name="Text 37"/>
          <p:cNvSpPr/>
          <p:nvPr/>
        </p:nvSpPr>
        <p:spPr>
          <a:xfrm>
            <a:off x="7498080" y="4937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GRANT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CRITICAL packet (prio=11) exits FIRST  ·  Priority ordering PROVEN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ARBITRATION — NEXT CYCLE: IN0 NOW WINS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001A4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 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78240" y="1005840"/>
            <a:ext cx="3108960" cy="3840480"/>
          </a:xfrm>
          <a:prstGeom prst="roundRect">
            <a:avLst>
              <a:gd name="adj" fmla="val 2353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INPUT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&gt; Aging &gt; RR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83480" y="48920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0033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49194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OUTPUT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109728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80960" y="2926080"/>
            <a:ext cx="109728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080760" y="4206240"/>
            <a:ext cx="0" cy="68580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57200" y="160020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00200"/>
            <a:ext cx="853440" cy="201168"/>
          </a:xfrm>
          <a:prstGeom prst="roundRect">
            <a:avLst>
              <a:gd name="adj" fmla="val 18182"/>
            </a:avLst>
          </a:prstGeom>
          <a:solidFill>
            <a:srgbClr val="00AAFF"/>
          </a:solidFill>
          <a:ln w="6350">
            <a:solidFill>
              <a:srgbClr val="00A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19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PRIORITY: 1/3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225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0/7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256032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06040"/>
            <a:ext cx="365760" cy="201168"/>
          </a:xfrm>
          <a:prstGeom prst="roundRect">
            <a:avLst>
              <a:gd name="adj" fmla="val 18182"/>
            </a:avLst>
          </a:prstGeom>
          <a:solidFill>
            <a:srgbClr val="00FFEE"/>
          </a:solidFill>
          <a:ln w="6350">
            <a:solidFill>
              <a:srgbClr val="00FF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2549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= 1: 1/7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20040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00332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186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IN0 GRANTED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No conflict → auto-grant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78240" y="320040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0A1628"/>
          </a:solidFill>
          <a:ln w="25400">
            <a:solidFill>
              <a:srgbClr val="3A5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32186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IN1 FIFO empty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already served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5120640"/>
            <a:ext cx="1097280" cy="0"/>
          </a:xfrm>
          <a:prstGeom prst="line">
            <a:avLst/>
          </a:prstGeom>
          <a:noFill/>
          <a:ln w="38100">
            <a:solidFill>
              <a:srgbClr val="00AAFF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3291840" y="4937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GRANT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PRESERVED:  pkt_id=8 (CRITICAL prio=11)  THEN  pkt_id=7 (HIGH prio=10)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AGING — ANTI-STARVATION MECHANISM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621792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62179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eff_priority = static_priority + age_counter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2A001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HIGH PRIORITY PKT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 = 3  (CRITICAL)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0  (always granted)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 =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52928"/>
            <a:ext cx="1254034" cy="201168"/>
          </a:xfrm>
          <a:prstGeom prst="roundRect">
            <a:avLst>
              <a:gd name="adj" fmla="val 18182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723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PRIORITY: 3/7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WINS every cycle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Starves low-prio packets!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13258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001A4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LOW PRIORITY PKT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 = 0  (LOWEST)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0  (GROWING!)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487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 = 0 + 0 = 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2852928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0723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PRIORITY (GROWING!): 0/7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Starved... waiting for aging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wait=1/3 cycles → age++ · Cycle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73736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2286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eff_hi =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2578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eff_lo = 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28803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eff_hi &gt; eff_lo → HI wins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114800"/>
            <a:ext cx="-731520" cy="0"/>
          </a:xfrm>
          <a:prstGeom prst="line">
            <a:avLst/>
          </a:prstGeom>
          <a:noFill/>
          <a:ln w="31750">
            <a:solidFill>
              <a:srgbClr val="FF3355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3200400" y="3913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GRANT 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CYCLE TIMELINE  (Red = HI wins · Green = LO rescued by aging)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8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72768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72768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88336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88336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03904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03904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19472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35040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50608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266176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66176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C8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381744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81744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497312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97312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 1: High-priority packet arrives and wins. Low-prio packet denied. wait=1, age=0.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AGING — ANTI-STARVATION MECHANISM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621792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62179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eff_priority = static_priority + age_counter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2A001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HIGH PRIORITY PKT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 = 3  (CRITICAL)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0  (always granted)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 =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52928"/>
            <a:ext cx="1254034" cy="201168"/>
          </a:xfrm>
          <a:prstGeom prst="roundRect">
            <a:avLst>
              <a:gd name="adj" fmla="val 18182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723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PRIORITY: 3/7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WINS every cycle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Starves low-prio packets!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13258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001A4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LOW PRIORITY PKT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 = 0  (LOWEST)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1  (GROWING!)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487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 = 0 + 1 = 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2852928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2852928"/>
            <a:ext cx="418011" cy="201168"/>
          </a:xfrm>
          <a:prstGeom prst="roundRect">
            <a:avLst>
              <a:gd name="adj" fmla="val 18182"/>
            </a:avLst>
          </a:prstGeom>
          <a:solidFill>
            <a:srgbClr val="00AAFF"/>
          </a:solidFill>
          <a:ln w="6350">
            <a:solidFill>
              <a:srgbClr val="00A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30723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PRIORITY (GROWING!): 1/7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Starved... waiting for aging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wait=2/3 cycles → age++ · Cycle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73736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2286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eff_hi =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2578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eff_lo = 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28803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eff_hi &gt; eff_lo → HI wins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114800"/>
            <a:ext cx="-731520" cy="0"/>
          </a:xfrm>
          <a:prstGeom prst="line">
            <a:avLst/>
          </a:prstGeom>
          <a:noFill/>
          <a:ln w="31750">
            <a:solidFill>
              <a:srgbClr val="FF3355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3200400" y="3913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GRANT →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CYCLE TIMELINE  (Red = HI wins · Green = LO rescued by aging)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72768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72768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88336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88336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03904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8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03904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19472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150608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66176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66176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381744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81744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497312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97312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 4: After 3 denials → age++. eff_lo rises 0 → 1. Still losing but closing the gap!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AGING — ANTI-STARVATION MECHANISM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66160" y="621792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62179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eff_priority = static_priority + age_counter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2A001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HIGH PRIORITY PKT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 = 3  (CRITICAL)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0  (always granted)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 =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52928"/>
            <a:ext cx="1254034" cy="201168"/>
          </a:xfrm>
          <a:prstGeom prst="roundRect">
            <a:avLst>
              <a:gd name="adj" fmla="val 18182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723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PRIORITY: 3/7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WINS every cycle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Starves low-prio packets!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132588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0033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LOW PRIO — RESCUED!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1874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 = 0  (LOWEST)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3  (GROWING!)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4871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 = 0 + 3 = 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2852928"/>
            <a:ext cx="2926080" cy="201168"/>
          </a:xfrm>
          <a:prstGeom prst="roundRect">
            <a:avLst>
              <a:gd name="adj" fmla="val 18182"/>
            </a:avLst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2852928"/>
            <a:ext cx="1254034" cy="201168"/>
          </a:xfrm>
          <a:prstGeom prst="roundRect">
            <a:avLst>
              <a:gd name="adj" fmla="val 18182"/>
            </a:avLst>
          </a:prstGeom>
          <a:solidFill>
            <a:srgbClr val="00FF88"/>
          </a:solidFill>
          <a:ln w="635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30723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 PRIORITY (GROWING!): 3/7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eff_lo ≥ eff_hi → WINS!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wait=0/3 cycles → age++ · Cycle 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73736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2286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eff_hi =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2578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eff_lo =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28803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eff_lo ≥ eff_hi → LO WINS!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4114800"/>
            <a:ext cx="731520" cy="0"/>
          </a:xfrm>
          <a:prstGeom prst="line">
            <a:avLst/>
          </a:prstGeom>
          <a:noFill/>
          <a:ln w="38100">
            <a:solidFill>
              <a:srgbClr val="00FF88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7315200" y="3913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← GRANT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CYCLE TIMELINE  (Red = HI wins · Green = LO rescued by aging)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72768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72768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88336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88336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03904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03904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19472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150608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66176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66176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381744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FF3355"/>
          </a:solidFill>
          <a:ln w="6350">
            <a:solidFill>
              <a:srgbClr val="FF33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81744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497312" y="5212080"/>
            <a:ext cx="1069848" cy="457200"/>
          </a:xfrm>
          <a:prstGeom prst="roundRect">
            <a:avLst>
              <a:gd name="adj" fmla="val 8000"/>
            </a:avLst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97312" y="5230368"/>
            <a:ext cx="10698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Cycle 10: eff_lo = 3 = eff_hi  →  AGING KICKS IN  →  LOW PRIORITY WINS!  Starvation PREVENTED.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FPGA IMPLEMENTATION RESULTS — KINTEX-7 xc7k325t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003330"/>
          </a:solidFill>
          <a:ln w="25400">
            <a:solidFill>
              <a:srgbClr val="00FF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477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 LUTs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391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134,600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63640" y="77724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001A40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82296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1302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Flip-Flops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0391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269,200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0033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43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0.191W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Power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9593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from 194W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63640" y="269748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7432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25.3°C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263640" y="36118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Jnct Temp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9593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+74.7°C margin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6344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16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365760" y="5532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 LUTs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5879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arbiter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461772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2A0010"/>
          </a:solidFill>
          <a:ln w="25400">
            <a:solidFill>
              <a:srgbClr val="FF3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66344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138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263640" y="5532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IOB Used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5879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3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500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DESIGN VERIFIED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VOQ 2×2 NoC Router with Priority + Aging + Round-Robin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1033272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HOL Blocking Fully Eliminated via VOQ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Priority Arbitration — 3-tier Decision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Aging Prevents Starvation in ≤ 9 Cycles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A44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5-bit XOR CRC on Every Packet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Hardware Latency + Throughput Monitor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✓  0.191W  ·  477 LUTs  ·  25.3°C  ·  27.6% 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VIT–SanDisk Hackathon 2026  ·  Kintex-7 xc7k325t  ·  Vivado Implementation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YOUR DESIGN  vs  iSLIP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McKeown, IEEE/ACM Transactions on Networking, April 1999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iSLIP — The Reference Standard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Iterative round-robin scheduling for VOQ switches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Eliminates HOL blocking via Virtual Output Queuing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22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pointer advances ONLY on accepted grants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151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Achieves 100% throughput — proven analytically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Deployed: Cisco GSR 12000 (50 Gb/s), Tiny Tera (500 Gb/s)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Single-chip scheduler for 32 ports, 100M decisions/sec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234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01A40"/>
          </a:solidFill>
          <a:ln w="25400">
            <a:solidFill>
              <a:srgbClr val="00FF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234440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Your Design — Extended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VOQ foundation as iSLIP — identical HOL fix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Round-robin at equal priority → mirrors iSLIP behavior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322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3-tier arbiter: Priority + Aging + Round-Robin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6151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Aging counter prevents starvation with QoS awareness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2907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CRC validation — not present in iSLIP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200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latency + throughput counters — not in iSLIP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11521440" cy="822960"/>
          </a:xfrm>
          <a:prstGeom prst="roundRect">
            <a:avLst>
              <a:gd name="adj" fmla="val 11111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12464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A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 equal priority, our arbiter degenerates to exactly iSLIP behavior.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059936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different priorities, we add QoS — something iSLIP needs a separate extension to achieve."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00332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64515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YOUR DESIGN:  9 / 15 categories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00800" y="461772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64515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iSLIP:        3 / 15 categories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5760" y="54406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 draws — HOL elimination, throughput, VOQ structure)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161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FEATURE-BY-FEATURE COMPARISON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2514600" cy="411480"/>
          </a:xfrm>
          <a:prstGeom prst="roundRect">
            <a:avLst>
              <a:gd name="adj" fmla="val 17778"/>
            </a:avLst>
          </a:prstGeom>
          <a:solidFill>
            <a:srgbClr val="00AAFF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CRITERION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594360"/>
            <a:ext cx="3337560" cy="411480"/>
          </a:xfrm>
          <a:prstGeom prst="roundRect">
            <a:avLst>
              <a:gd name="adj" fmla="val 17778"/>
            </a:avLst>
          </a:prstGeom>
          <a:solidFill>
            <a:srgbClr val="00AAFF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5943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iSLIP (1999)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594360"/>
            <a:ext cx="3703320" cy="411480"/>
          </a:xfrm>
          <a:prstGeom prst="roundRect">
            <a:avLst>
              <a:gd name="adj" fmla="val 17778"/>
            </a:avLst>
          </a:prstGeom>
          <a:solidFill>
            <a:srgbClr val="00AAFF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5943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YOUR DESIGN (2026)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966960" y="594360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0AAFF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0" y="5943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WINNER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051560"/>
            <a:ext cx="251460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1051560"/>
            <a:ext cx="333756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51560"/>
            <a:ext cx="3703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051560"/>
            <a:ext cx="1417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05156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 Blocking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34640" y="105156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Eliminated via VOQ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105156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Eliminated via VOQ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66960" y="105156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— DRAW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463040"/>
            <a:ext cx="251460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1463040"/>
            <a:ext cx="333756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463040"/>
            <a:ext cx="3703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66960" y="1463040"/>
            <a:ext cx="1417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46304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Arbiter Tier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34640" y="146304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Round-robin (1 tier)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146304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(2-bit)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966960" y="146304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1874520"/>
            <a:ext cx="251460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34640" y="1874520"/>
            <a:ext cx="333756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874520"/>
            <a:ext cx="3703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0" y="1874520"/>
            <a:ext cx="1417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87452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Arbiter Tier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34640" y="187452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Pointer-hold anti-starvation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187452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counter boost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966960" y="187452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286000"/>
            <a:ext cx="251460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34640" y="2286000"/>
            <a:ext cx="333756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286000"/>
            <a:ext cx="3703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66960" y="2286000"/>
            <a:ext cx="1417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28600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Arbiter Tier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34640" y="228600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228600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Round-Robin tiebreak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66960" y="228600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2697480"/>
            <a:ext cx="251460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34640" y="2697480"/>
            <a:ext cx="333756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2697480"/>
            <a:ext cx="3703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66960" y="2697480"/>
            <a:ext cx="1417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269748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/ QoS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834640" y="269748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separate extension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0" y="269748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header field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966960" y="269748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108960"/>
            <a:ext cx="251460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34640" y="3108960"/>
            <a:ext cx="333756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17920" y="3108960"/>
            <a:ext cx="3703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66960" y="3108960"/>
            <a:ext cx="1417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310896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CRC Check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834640" y="310896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present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17920" y="310896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5-bit XOR per packet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966960" y="310896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3520440"/>
            <a:ext cx="251460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834640" y="3520440"/>
            <a:ext cx="333756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17920" y="3520440"/>
            <a:ext cx="3703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66960" y="3520440"/>
            <a:ext cx="1417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52044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Tracking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834640" y="352044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 only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17920" y="352044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timestamp per PKT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966960" y="352044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3931920"/>
            <a:ext cx="251460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4640" y="3931920"/>
            <a:ext cx="333756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17920" y="3931920"/>
            <a:ext cx="3703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66960" y="3931920"/>
            <a:ext cx="1417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393192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 Perf Counters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834640" y="393192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present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17920" y="393192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real-time counters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966960" y="393192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4343400"/>
            <a:ext cx="251460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834640" y="4343400"/>
            <a:ext cx="333756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17920" y="4343400"/>
            <a:ext cx="3703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966960" y="4343400"/>
            <a:ext cx="1417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434340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Formal Proof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2834640" y="434340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throughput proven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217920" y="434340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 verified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9966960" y="434340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⚡ iSLIP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74320" y="4754880"/>
            <a:ext cx="251460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834640" y="4754880"/>
            <a:ext cx="333756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17920" y="4754880"/>
            <a:ext cx="3703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966960" y="4754880"/>
            <a:ext cx="1417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475488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Multi-iteration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834640" y="475488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log₂(N) iterations/cell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217920" y="475488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iteration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966960" y="475488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⚡ iSLIP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74320" y="5166360"/>
            <a:ext cx="251460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34640" y="5166360"/>
            <a:ext cx="333756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17920" y="5166360"/>
            <a:ext cx="3703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66960" y="5166360"/>
            <a:ext cx="1417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4320" y="516636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Scalability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2834640" y="516636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32-port commercial deploy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217920" y="516636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2×2 prototype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9966960" y="516636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⚡ iSLIP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74320" y="5577840"/>
            <a:ext cx="251460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834640" y="5577840"/>
            <a:ext cx="333756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17920" y="5577840"/>
            <a:ext cx="3703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6960" y="5577840"/>
            <a:ext cx="1417320" cy="393192"/>
          </a:xfrm>
          <a:prstGeom prst="rect">
            <a:avLst/>
          </a:prstGeom>
          <a:solidFill>
            <a:srgbClr val="060E1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4320" y="557784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Chip Area (2×2)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2834640" y="557784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~1200 LUTs est.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6217920" y="557784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477 LUTs  (2.5× leaner)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9966960" y="557784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274320" y="5989320"/>
            <a:ext cx="251460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834640" y="5989320"/>
            <a:ext cx="333756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217920" y="5989320"/>
            <a:ext cx="3703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966960" y="5989320"/>
            <a:ext cx="1417320" cy="393192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74320" y="598932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2834640" y="598932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 (1999 ASIC)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6217920" y="5989320"/>
            <a:ext cx="3703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0.191W  &lt;  USB port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9966960" y="5989320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✅ YOURS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1161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35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ARBITER DEEP DIVE — iSLIP vs YOUR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4008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800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iSLIP ARBITER (single tier)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REQUEST  — input sends request to all outputs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GRANT    — output picks next in round-robin order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3677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ACCEPT   — input picks next in round-robin order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rule: pointer gi advances ONLY if grant accepted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→ prevents lock-step synchronization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6243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8712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Starvation bound: ≤ N cell times (formally proven)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1181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Hardware: priority encoder + pointer register + incrementer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36499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32-port: 1,210 inverter equivalents per arbiter (ASIC)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64008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001A40"/>
          </a:solidFill>
          <a:ln w="25400">
            <a:solidFill>
              <a:srgbClr val="00FF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64008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YOUR ARBITER (three tiers)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114300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1: eff = static_priority + age_counter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0" y="138988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2: if eff0 &gt; eff1  →  grant to input0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163677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eff1 &gt; eff0  →  grant to input1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188366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3: if eff0 == eff1  →  last_grant alternates (= iSLIP!)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0" y="213055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0" y="2377440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Starvation bound: ≤ 3×(prio_hi - prio_lo) cycles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262432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increments every 3 denied cycles → bounded wait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287121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0" y="3118104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Hardware: 16 LUTs per arbiter on Kintex-7 (verified)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0" y="336499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2-port: 19 flip-flops total (age + wait + prev_grant)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886200"/>
            <a:ext cx="11612880" cy="685800"/>
          </a:xfrm>
          <a:prstGeom prst="roundRect">
            <a:avLst>
              <a:gd name="adj" fmla="val 10667"/>
            </a:avLst>
          </a:prstGeom>
          <a:solidFill>
            <a:srgbClr val="1A0A30"/>
          </a:solidFill>
          <a:ln w="25400">
            <a:solidFill>
              <a:srgbClr val="AA4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A4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INSIGHT: At equal priority, Tier 3 (Round-Robin) = exactly iSLIP behavior.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25196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different priorities, Tiers 1+2 give QoS ordering that base iSLIP cannot provide without the separate Prioritized-iSLIP extension.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Starvation prevention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4709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guaranteed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5056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awareness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66160" y="50566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505663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(iSLIP needs ext.)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54041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complexity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66160" y="54041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540410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LUTs (iSLIP ~274/arbiter ASIC equiv.)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5751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 100%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66160" y="57515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575157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iSLIP proven · yours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92000" cy="36576"/>
          </a:xfrm>
          <a:prstGeom prst="rect">
            <a:avLst/>
          </a:prstGeom>
          <a:solidFill>
            <a:srgbClr val="00FFE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161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FFEE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JUDGE Q&amp;A — SCRIPTED ANSWERS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11612880" cy="384048"/>
          </a:xfrm>
          <a:prstGeom prst="roundRect">
            <a:avLst>
              <a:gd name="adj" fmla="val 14286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Q1: How does your arbiter compare to iSLIP?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11612880" cy="914400"/>
          </a:xfrm>
          <a:prstGeom prst="roundRect">
            <a:avLst>
              <a:gd name="adj" fmla="val 6000"/>
            </a:avLst>
          </a:prstGeom>
          <a:solidFill>
            <a:srgbClr val="001A40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78992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equal priority, our Tier-3 round-robin is identical to iSLIP. We add two layers above it: Tier-1 static priority for QoS, and Tier-2 aging to prevent starvation of lower-priority traffic — something iSLIP only adds via a separate Prioritized-iSLIP extension.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11612880" cy="384048"/>
          </a:xfrm>
          <a:prstGeom prst="roundRect">
            <a:avLst>
              <a:gd name="adj" fmla="val 14286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1226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Q2: iSLIP achieves 100% throughput — does yours?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11612880" cy="914400"/>
          </a:xfrm>
          <a:prstGeom prst="roundRect">
            <a:avLst>
              <a:gd name="adj" fmla="val 6000"/>
            </a:avLst>
          </a:prstGeom>
          <a:solidFill>
            <a:srgbClr val="001A40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42032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uniform traffic at equal priority, yes — our round-robin tiebreak follows the same desynchronization principle McKeown proves leads to 100% throughput. For mixed-priority traffic, high-priority flows are served first, improving effective throughput for critical traffic. Formal proof is future work.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11612880" cy="384048"/>
          </a:xfrm>
          <a:prstGeom prst="roundRect">
            <a:avLst>
              <a:gd name="adj" fmla="val 14286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530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Q3: Why more flip-flops than iSLIP arbiters?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68496"/>
            <a:ext cx="11612880" cy="914400"/>
          </a:xfrm>
          <a:prstGeom prst="roundRect">
            <a:avLst>
              <a:gd name="adj" fmla="val 6000"/>
            </a:avLst>
          </a:prstGeom>
          <a:solidFill>
            <a:srgbClr val="001A40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05072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1302 FFs are primarily from VOQ FIFOs storing 32-bit injection timestamps for latency tracking. iSLIP does not track per-packet latency in hardware. Without timestamps, FIFOs drop to ~128 FFs each — we chose observability over minimal area.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5010912"/>
            <a:ext cx="11612880" cy="384048"/>
          </a:xfrm>
          <a:prstGeom prst="roundRect">
            <a:avLst>
              <a:gd name="adj" fmla="val 14286"/>
            </a:avLst>
          </a:prstGeom>
          <a:solidFill>
            <a:srgbClr val="2A1800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3834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Q4: Your design is only 2×2 — is that trivial?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5431536"/>
            <a:ext cx="11612880" cy="914400"/>
          </a:xfrm>
          <a:prstGeom prst="roundRect">
            <a:avLst>
              <a:gd name="adj" fmla="val 6000"/>
            </a:avLst>
          </a:prstGeom>
          <a:solidFill>
            <a:srgbClr val="001A40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468112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2×2 is the fundamental building block of mesh/torus NoC topologies. We implemented every pipeline layer — CRC, VOQ, 3-tier arbiter, crossbar, and monitoring — on real FPGA silicon. At 1.55% of Kintex-7, 60+ routers could tile on one chip. N×N scaling needs generate loops on the existing modular architecture.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VOQ 2x2 NoC Router Animation</dc:title>
  <dc:subject>PptxGenJS Presentation</dc:subject>
  <dc:creator>PptxGenJS</dc:creator>
  <cp:lastModifiedBy>PptxGenJS</cp:lastModifiedBy>
  <cp:revision>1</cp:revision>
  <dcterms:created xsi:type="dcterms:W3CDTF">2026-03-06T10:01:40Z</dcterms:created>
  <dcterms:modified xsi:type="dcterms:W3CDTF">2026-03-06T10:01:40Z</dcterms:modified>
</cp:coreProperties>
</file>